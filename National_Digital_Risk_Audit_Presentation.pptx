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828800"/>
            <a:ext cx="12801600" cy="457200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280160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5A88B"/>
                </a:solidFill>
                <a:latin typeface="Segoe UI"/>
              </a:defRPr>
            </a:pPr>
            <a:r>
              <a:t>WEEK 3 - CYBER SECURITY TASK</a:t>
            </a:r>
          </a:p>
          <a:p>
            <a:pPr>
              <a:spcBef>
                <a:spcPts val="1200"/>
              </a:spcBef>
              <a:defRPr sz="4400" b="1">
                <a:solidFill>
                  <a:srgbClr val="FAF6F0"/>
                </a:solidFill>
                <a:latin typeface="Segoe UI"/>
              </a:defRPr>
            </a:pPr>
            <a:r>
              <a:t>BUSINESS SECURITY &amp; DIGITAL RISK ANALYSIS</a:t>
            </a:r>
          </a:p>
          <a:p>
            <a:pPr>
              <a:spcBef>
                <a:spcPts val="2000"/>
              </a:spcBef>
              <a:defRPr sz="1600">
                <a:solidFill>
                  <a:srgbClr val="D5C3C6"/>
                </a:solidFill>
                <a:latin typeface="Segoe UI"/>
              </a:defRPr>
            </a:pPr>
            <a:r>
              <a:t>Digital presence assessment, vulnerability scan, and cyber risk scoring of 50 businesses identified via Google Maps across major Indian cities.</a:t>
            </a:r>
          </a:p>
          <a:p>
            <a:pPr>
              <a:spcBef>
                <a:spcPts val="5000"/>
              </a:spcBef>
              <a:defRPr sz="1400">
                <a:solidFill>
                  <a:srgbClr val="E5A88B"/>
                </a:solidFill>
                <a:latin typeface="Segoe UI"/>
              </a:defRPr>
            </a:pPr>
            <a:r>
              <a:t>Prepared by: Cyber Security Consultant  |  Assessment Scope: Pan-India Market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Project Scope &amp; Assessment Areas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Target Region: India Local Market Analysis (50 Businesses)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402336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402336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79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01  |  Data Sourcing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Google Maps Sourcing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800">
                <a:solidFill>
                  <a:srgbClr val="D5C3C6"/>
                </a:solidFill>
                <a:latin typeface="Segoe UI"/>
              </a:defRPr>
            </a:pPr>
            <a:r>
              <a:t>• Mapped 50 Indian businesses.</a:t>
            </a:r>
            <a:br/>
            <a:r>
              <a:t>• Mumbai, Bangalore, Chennai, Kolkata.</a:t>
            </a:r>
            <a:br/>
            <a:r>
              <a:t>• Delhi, Hyderabad, Pune, Jaipur, Goa.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Security Audits</a:t>
            </a:r>
          </a:p>
          <a:p>
            <a:pPr>
              <a:spcBef>
                <a:spcPts val="400"/>
              </a:spcBef>
              <a:defRPr sz="1800">
                <a:solidFill>
                  <a:srgbClr val="D5C3C6"/>
                </a:solidFill>
                <a:latin typeface="Segoe UI"/>
              </a:defRPr>
            </a:pPr>
            <a:r>
              <a:t>• Scanned target websites.</a:t>
            </a:r>
            <a:br/>
            <a:r>
              <a:t>• Checked SSL &amp; admin page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194560"/>
            <a:ext cx="402336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2194560"/>
            <a:ext cx="402336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468879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02  |  Industry Scope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Sectors Evaluated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800">
                <a:solidFill>
                  <a:srgbClr val="D5C3C6"/>
                </a:solidFill>
                <a:latin typeface="Segoe UI"/>
              </a:defRPr>
            </a:pPr>
            <a:r>
              <a:t>• Restaurants &amp; Cafes (10 checked)</a:t>
            </a:r>
            <a:br/>
            <a:r>
              <a:t>• Healthcare &amp; Clinics (10 checked)</a:t>
            </a:r>
            <a:br/>
            <a:r>
              <a:t>• Retail &amp; Shops (10 checked)</a:t>
            </a:r>
            <a:br/>
            <a:r>
              <a:t>• Professional Services (10 checked)</a:t>
            </a:r>
            <a:br/>
            <a:r>
              <a:t>• Hospitality &amp; Hotels (10 checked)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2194560"/>
            <a:ext cx="402336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0" y="2194560"/>
            <a:ext cx="402336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468879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03  |  Security Parameters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Protocols &amp; SSL Checks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800">
                <a:solidFill>
                  <a:srgbClr val="D5C3C6"/>
                </a:solidFill>
                <a:latin typeface="Segoe UI"/>
              </a:defRPr>
            </a:pPr>
            <a:r>
              <a:t>• Checked HTTPS redirect.</a:t>
            </a:r>
            <a:br/>
            <a:r>
              <a:t>• Checked SSL certificate validity.</a:t>
            </a:r>
            <a:br/>
            <a:r>
              <a:t>• Scanned admin login exposure.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Asset Exposures</a:t>
            </a:r>
          </a:p>
          <a:p>
            <a:pPr>
              <a:spcBef>
                <a:spcPts val="400"/>
              </a:spcBef>
              <a:defRPr sz="1800">
                <a:solidFill>
                  <a:srgbClr val="D5C3C6"/>
                </a:solidFill>
                <a:latin typeface="Segoe UI"/>
              </a:defRPr>
            </a:pPr>
            <a:r>
              <a:t>• Scanned open directory indexes.</a:t>
            </a:r>
            <a:br/>
            <a:r>
              <a:t>• Tested contact forms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Executive Summary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Key Findings and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2926080" cy="73152"/>
          </a:xfrm>
          <a:prstGeom prst="rect">
            <a:avLst/>
          </a:prstGeom>
          <a:solidFill>
            <a:srgbClr val="D5C3C6"/>
          </a:solidFill>
          <a:ln w="12700">
            <a:solidFill>
              <a:srgbClr val="D5C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FAF6F0"/>
                </a:solidFill>
                <a:latin typeface="Segoe UI"/>
              </a:defRPr>
            </a:pPr>
            <a:r>
              <a:t>50</a:t>
            </a:r>
          </a:p>
          <a:p>
            <a:pPr algn="ctr">
              <a:spcBef>
                <a:spcPts val="300"/>
              </a:spcBef>
              <a:defRPr sz="1500" b="1">
                <a:solidFill>
                  <a:srgbClr val="D5C3C6"/>
                </a:solidFill>
                <a:latin typeface="Segoe UI"/>
              </a:defRPr>
            </a:pPr>
            <a:r>
              <a:t>TOTAL CHECKED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19456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292608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2286000"/>
            <a:ext cx="274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E5A88B"/>
                </a:solidFill>
                <a:latin typeface="Segoe UI"/>
              </a:defRPr>
            </a:pPr>
            <a:r>
              <a:t>3.44</a:t>
            </a:r>
          </a:p>
          <a:p>
            <a:pPr algn="ctr">
              <a:spcBef>
                <a:spcPts val="300"/>
              </a:spcBef>
              <a:defRPr sz="1500" b="1">
                <a:solidFill>
                  <a:srgbClr val="D5C3C6"/>
                </a:solidFill>
                <a:latin typeface="Segoe UI"/>
              </a:defRPr>
            </a:pPr>
            <a:r>
              <a:t>AVERAGE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19456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2194560"/>
            <a:ext cx="2926080" cy="73152"/>
          </a:xfrm>
          <a:prstGeom prst="rect">
            <a:avLst/>
          </a:prstGeom>
          <a:solidFill>
            <a:srgbClr val="88D49E"/>
          </a:solidFill>
          <a:ln w="12700">
            <a:solidFill>
              <a:srgbClr val="88D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2286000"/>
            <a:ext cx="274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88D49E"/>
                </a:solidFill>
                <a:latin typeface="Segoe UI"/>
              </a:defRPr>
            </a:pPr>
            <a:r>
              <a:t>64%</a:t>
            </a:r>
          </a:p>
          <a:p>
            <a:pPr algn="ctr">
              <a:spcBef>
                <a:spcPts val="300"/>
              </a:spcBef>
              <a:defRPr sz="1500" b="1">
                <a:solidFill>
                  <a:srgbClr val="D5C3C6"/>
                </a:solidFill>
                <a:latin typeface="Segoe UI"/>
              </a:defRPr>
            </a:pPr>
            <a:r>
              <a:t>SECURE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0" y="219456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0" y="2194560"/>
            <a:ext cx="2926080" cy="73152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2286000"/>
            <a:ext cx="274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F07167"/>
                </a:solidFill>
                <a:latin typeface="Segoe UI"/>
              </a:defRPr>
            </a:pPr>
            <a:r>
              <a:t>36%</a:t>
            </a:r>
          </a:p>
          <a:p>
            <a:pPr algn="ctr">
              <a:spcBef>
                <a:spcPts val="300"/>
              </a:spcBef>
              <a:defRPr sz="1500" b="1">
                <a:solidFill>
                  <a:srgbClr val="D5C3C6"/>
                </a:solidFill>
                <a:latin typeface="Segoe UI"/>
              </a:defRPr>
            </a:pPr>
            <a:r>
              <a:t>AT RISK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06240"/>
            <a:ext cx="12801600" cy="310896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1280160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12252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High-Level Cybersecurity Posture Analysis</a:t>
            </a:r>
          </a:p>
          <a:p>
            <a:pPr>
              <a:spcBef>
                <a:spcPts val="400"/>
              </a:spcBef>
              <a:defRPr sz="1800">
                <a:solidFill>
                  <a:srgbClr val="FAF6F0"/>
                </a:solidFill>
                <a:latin typeface="Segoe UI"/>
              </a:defRPr>
            </a:pPr>
            <a:r>
              <a:t>• Security Divide: 64% Secure rate is driven by corporate hotels/hospitals, but 36% At-Risk rate exposes local small businesses.</a:t>
            </a:r>
            <a:br/>
            <a:r>
              <a:t>• Protocol Gaps: Plaintext transmissions and exposed CMS panels (6 sites) are the largest source of website vulnerability.</a:t>
            </a:r>
            <a:br/>
            <a:r>
              <a:t>• Sabotage Risks: 9 Google Maps business profiles remain unclaimed, presenting an active hijacking risk for information edits.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Security Risk &amp; Score Distribution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Proportion of overall secure vs. vulnerable businesses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594360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94360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Risk Tier Analysis</a:t>
            </a:r>
          </a:p>
          <a:p>
            <a:pPr>
              <a:defRPr b="1" sz="2000">
                <a:solidFill>
                  <a:srgbClr val="88D49E"/>
                </a:solidFill>
                <a:latin typeface="Segoe UI"/>
              </a:defRPr>
            </a:pPr>
            <a:r>
              <a:t>Very Secure (Score 5) — 30 Businesses</a:t>
            </a:r>
          </a:p>
          <a:p>
            <a:pPr>
              <a:spcAft>
                <a:spcPts val="1200"/>
              </a:spcAft>
              <a:defRPr sz="1800">
                <a:solidFill>
                  <a:srgbClr val="FAF6F0"/>
                </a:solidFill>
                <a:latin typeface="Segoe UI"/>
              </a:defRPr>
            </a:pPr>
            <a:r>
              <a:t>Fully secure websites with active HTTPS redirections, valid SSL certificates, and hidden CMS login pages.</a:t>
            </a:r>
          </a:p>
          <a:p>
            <a:pPr>
              <a:defRPr b="1" sz="2000">
                <a:solidFill>
                  <a:srgbClr val="E5A88B"/>
                </a:solidFill>
                <a:latin typeface="Segoe UI"/>
              </a:defRPr>
            </a:pPr>
            <a:r>
              <a:t>Secure (Score 4) — 2 Businesses</a:t>
            </a:r>
          </a:p>
          <a:p>
            <a:pPr>
              <a:spcAft>
                <a:spcPts val="1200"/>
              </a:spcAft>
              <a:defRPr sz="1800">
                <a:solidFill>
                  <a:srgbClr val="FAF6F0"/>
                </a:solidFill>
                <a:latin typeface="Segoe UI"/>
              </a:defRPr>
            </a:pPr>
            <a:r>
              <a:t>Minor vulnerabilities detected (missing CSP or HSTS headers), but user input forms are secure.</a:t>
            </a:r>
          </a:p>
          <a:p>
            <a:pPr>
              <a:defRPr b="1" sz="2000">
                <a:solidFill>
                  <a:srgbClr val="F07167"/>
                </a:solidFill>
                <a:latin typeface="Segoe UI"/>
              </a:defRPr>
            </a:pPr>
            <a:r>
              <a:t>Vulnerable (Score 0-3) — 18 Businesses</a:t>
            </a:r>
          </a:p>
          <a:p>
            <a:pPr>
              <a:defRPr sz="1800">
                <a:solidFill>
                  <a:srgbClr val="FAF6F0"/>
                </a:solidFill>
                <a:latin typeface="Segoe UI"/>
              </a:defRPr>
            </a:pPr>
            <a:r>
              <a:t>Critical protocol exposures or complete digital absence (no website) with unclaimed business profiles.</a:t>
            </a:r>
          </a:p>
        </p:txBody>
      </p:sp>
      <p:pic>
        <p:nvPicPr>
          <p:cNvPr id="8" name="Picture 7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94560"/>
            <a:ext cx="6400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Vulnerability &amp; Risk Indicators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Prevalence of specific digital risks across the assessed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sk_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64008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2194560"/>
            <a:ext cx="594360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194560"/>
            <a:ext cx="5943600" cy="73152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3774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Vulnerability Breakdown</a:t>
            </a:r>
          </a:p>
          <a:p>
            <a:pPr>
              <a:defRPr b="1" sz="2000">
                <a:solidFill>
                  <a:srgbClr val="F07167"/>
                </a:solidFill>
                <a:latin typeface="Segoe UI"/>
              </a:defRPr>
            </a:pPr>
            <a:r>
              <a:t>Insecure Protocols (10 Sites)</a:t>
            </a:r>
          </a:p>
          <a:p>
            <a:pPr>
              <a:spcAft>
                <a:spcPts val="1200"/>
              </a:spcAft>
              <a:defRPr sz="1800">
                <a:solidFill>
                  <a:srgbClr val="FAF6F0"/>
                </a:solidFill>
                <a:latin typeface="Segoe UI"/>
              </a:defRPr>
            </a:pPr>
            <a:r>
              <a:t>Transmitting booking and user details in plaintext over HTTP. Vulnerable to interception.</a:t>
            </a:r>
          </a:p>
          <a:p>
            <a:pPr>
              <a:defRPr b="1" sz="2000">
                <a:solidFill>
                  <a:srgbClr val="F07167"/>
                </a:solidFill>
                <a:latin typeface="Segoe UI"/>
              </a:defRPr>
            </a:pPr>
            <a:r>
              <a:t>Exposed Admin Panels (6 Sites)</a:t>
            </a:r>
          </a:p>
          <a:p>
            <a:pPr>
              <a:spcAft>
                <a:spcPts val="1200"/>
              </a:spcAft>
              <a:defRPr sz="1800">
                <a:solidFill>
                  <a:srgbClr val="FAF6F0"/>
                </a:solidFill>
                <a:latin typeface="Segoe UI"/>
              </a:defRPr>
            </a:pPr>
            <a:r>
              <a:t>WordPress login directories are exposed, allowing hackers to run automated brute-force scans.</a:t>
            </a:r>
          </a:p>
          <a:p>
            <a:pPr>
              <a:defRPr b="1" sz="2000">
                <a:solidFill>
                  <a:srgbClr val="F07167"/>
                </a:solidFill>
                <a:latin typeface="Segoe UI"/>
              </a:defRPr>
            </a:pPr>
            <a:r>
              <a:t>Open Directories (2 Sites)</a:t>
            </a:r>
          </a:p>
          <a:p>
            <a:pPr>
              <a:defRPr sz="1800">
                <a:solidFill>
                  <a:srgbClr val="FAF6F0"/>
                </a:solidFill>
                <a:latin typeface="Segoe UI"/>
              </a:defRPr>
            </a:pPr>
            <a:r>
              <a:t>Folder indexing is active, exposing backend assets and file directories to public 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Industry Category &amp; Location Analysis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Comparing security standards across sectors and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594360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94360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Industry &amp; Geography Risks</a:t>
            </a:r>
          </a:p>
          <a:p>
            <a:pPr>
              <a:defRPr b="1" sz="2000">
                <a:solidFill>
                  <a:srgbClr val="E5A88B"/>
                </a:solidFill>
                <a:latin typeface="Segoe UI"/>
              </a:defRPr>
            </a:pPr>
            <a:r>
              <a:t>Industry Security Scorecard</a:t>
            </a:r>
          </a:p>
          <a:p>
            <a:pPr>
              <a:spcAft>
                <a:spcPts val="1400"/>
              </a:spcAft>
              <a:defRPr sz="1800">
                <a:solidFill>
                  <a:srgbClr val="FAF6F0"/>
                </a:solidFill>
                <a:latin typeface="Segoe UI"/>
              </a:defRPr>
            </a:pPr>
            <a:r>
              <a:t>Hospitality and Healthcare lead in security standards due to compliance regulations. Professional Services and Retail lag behind due to high rates of digital absence and unencrypted sites.</a:t>
            </a:r>
          </a:p>
          <a:p>
            <a:pPr>
              <a:defRPr b="1" sz="2000">
                <a:solidFill>
                  <a:srgbClr val="E5A88B"/>
                </a:solidFill>
                <a:latin typeface="Segoe UI"/>
              </a:defRPr>
            </a:pPr>
            <a:r>
              <a:t>Geographical Analysis</a:t>
            </a:r>
          </a:p>
          <a:p>
            <a:pPr>
              <a:defRPr sz="1800">
                <a:solidFill>
                  <a:srgbClr val="FAF6F0"/>
                </a:solidFill>
                <a:latin typeface="Segoe UI"/>
              </a:defRPr>
            </a:pPr>
            <a:r>
              <a:t>Major metropolitan centers show stark contrasts: premium corporate entities in Mumbai and Bengaluru exhibit high security postures, while smaller regional firms represent high-vulnerability clusters.</a:t>
            </a:r>
          </a:p>
        </p:txBody>
      </p:sp>
      <p:pic>
        <p:nvPicPr>
          <p:cNvPr id="8" name="Picture 7" descr="category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94560"/>
            <a:ext cx="6400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Top 10 Risky Businesses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Identified targets requiring immediate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94560"/>
          <a:ext cx="12801600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94560"/>
                <a:gridCol w="1645920"/>
                <a:gridCol w="13716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5A88B"/>
                          </a:solidFill>
                          <a:latin typeface="Segoe UI"/>
                        </a:defRPr>
                      </a:pPr>
                      <a:r>
                        <a:t>Business Name</a:t>
                      </a:r>
                    </a:p>
                  </a:txBody>
                  <a:tcPr anchor="ctr">
                    <a:solidFill>
                      <a:srgbClr val="1B18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5A88B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B18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5A88B"/>
                          </a:solidFill>
                          <a:latin typeface="Segoe UI"/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1B18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5A88B"/>
                          </a:solidFill>
                          <a:latin typeface="Segoe UI"/>
                        </a:defRPr>
                      </a:pPr>
                      <a:r>
                        <a:t>Security Score</a:t>
                      </a:r>
                    </a:p>
                  </a:txBody>
                  <a:tcPr anchor="ctr">
                    <a:solidFill>
                      <a:srgbClr val="1B18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5A88B"/>
                          </a:solidFill>
                          <a:latin typeface="Segoe UI"/>
                        </a:defRPr>
                      </a:pPr>
                      <a:r>
                        <a:t>Primary Security Gaps</a:t>
                      </a:r>
                    </a:p>
                  </a:txBody>
                  <a:tcPr anchor="ctr">
                    <a:solidFill>
                      <a:srgbClr val="1B182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Cafe Goodluck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Restaurants &amp; Cafes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City Dental Clinic &amp; Implant Center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Healthcare &amp; Clinics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Sarojini Saree House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Retail &amp; Shops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Shimla Residency Guest House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Hospitality &amp; Hotels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Shimla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Coimbatore Grocery Mart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Retail &amp; Shops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Mehta Tax Advisors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Professional Services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Gupta Chartered Accountants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Professional Services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Sharma Real Estate Consultants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Professional Services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0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No Website, Unclaimed Profile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Peter Cat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Restaurants &amp; Cafes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1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HTTP Only (No HTTPS), Expired SSL, Exposed Admin Page, Unprotected Forms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Leopold Cafe &amp; Bar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Restaurants &amp; Cafes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07167"/>
                          </a:solidFill>
                          <a:latin typeface="Segoe UI"/>
                        </a:defRPr>
                      </a:pPr>
                      <a:r>
                        <a:t>1 / 5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AF6F0"/>
                          </a:solidFill>
                          <a:latin typeface="Segoe UI"/>
                        </a:defRPr>
                      </a:pPr>
                      <a:r>
                        <a:t>HTTP Only (No HTTPS), No SSL, Exposed Admin Page, Unprotected Forms</a:t>
                      </a:r>
                    </a:p>
                  </a:txBody>
                  <a:tcPr anchor="ctr">
                    <a:solidFill>
                      <a:srgbClr val="12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Strategic Cybersecurity Roadmap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Actionable recommendations for businesses and service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6217920" cy="246888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6217920" cy="73152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58521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5A88B"/>
                </a:solidFill>
                <a:latin typeface="Segoe UI"/>
              </a:defRPr>
            </a:pPr>
            <a:r>
              <a:t>1. Immediate Remediation (At-Risk Sites)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Install SSL Certificates: Force HTTP to HTTPS redirects.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Cloak Admin Panels: Restrict access to /wp-admin.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Secure Forms: Deploy anti-CSRF tokens on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194560"/>
            <a:ext cx="6217920" cy="246888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2194560"/>
            <a:ext cx="621792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2377440"/>
            <a:ext cx="58521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5A88B"/>
                </a:solidFill>
                <a:latin typeface="Segoe UI"/>
              </a:defRPr>
            </a:pPr>
            <a:r>
              <a:t>2. Google Maps Profile Hardening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Profile Claiming: Verify unclaimed profiles on Maps.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Access Audits: Enforce MFA on associated accounts.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Monitor Edits: Set alerts for Google Maps suggestions.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6217920" cy="246888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5029200"/>
            <a:ext cx="6217920" cy="73152"/>
          </a:xfrm>
          <a:prstGeom prst="rect">
            <a:avLst/>
          </a:prstGeom>
          <a:solidFill>
            <a:srgbClr val="88D49E"/>
          </a:solidFill>
          <a:ln w="12700">
            <a:solidFill>
              <a:srgbClr val="88D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58521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5A88B"/>
                </a:solidFill>
                <a:latin typeface="Segoe UI"/>
              </a:defRPr>
            </a:pPr>
            <a:r>
              <a:t>3. Ongoing Security Management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Header Hardening: Enable CSP &amp; X-Frame-Options.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Auto updates: Configure automatic CMS updates.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Scanning: Run monthly scans for directory leaks.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5029200"/>
            <a:ext cx="6217920" cy="246888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5029200"/>
            <a:ext cx="6217920" cy="7315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5212080"/>
            <a:ext cx="58521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5A88B"/>
                </a:solidFill>
                <a:latin typeface="Segoe UI"/>
              </a:defRPr>
            </a:pPr>
            <a:r>
              <a:t>4. Lead Generation &amp; Client Acquisition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Lead Gen: Pitch audit reports to low-scoring sites.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Quick Wins: Offer free SSL &amp; GBP verification setups.</a:t>
            </a:r>
          </a:p>
          <a:p>
            <a:pPr>
              <a:defRPr sz="1500">
                <a:solidFill>
                  <a:srgbClr val="FAF6F0"/>
                </a:solidFill>
                <a:latin typeface="Segoe UI"/>
              </a:defRPr>
            </a:pPr>
            <a:r>
              <a:t>• Bundles: Package security audits for CA/clinics.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AF6F0"/>
                </a:solidFill>
                <a:latin typeface="Segoe UI"/>
              </a:defRPr>
            </a:pPr>
            <a:r>
              <a:t>Lead Conversion &amp; Outreach Playbook</a:t>
            </a:r>
          </a:p>
          <a:p>
            <a:pPr>
              <a:spcBef>
                <a:spcPts val="400"/>
              </a:spcBef>
              <a:defRPr sz="1800">
                <a:solidFill>
                  <a:srgbClr val="E5A88B"/>
                </a:solidFill>
                <a:latin typeface="Segoe UI"/>
              </a:defRPr>
            </a:pPr>
            <a:r>
              <a:t>Commercial strategy for IT consulting &amp; cybersecurity agencies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D5C3C6"/>
                </a:solidFill>
                <a:latin typeface="Segoe UI"/>
              </a:defRPr>
            </a:pPr>
            <a:r>
              <a:t>PAN-INDIA DIGITAL SECURITY AUDIT •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2801600" cy="45720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402336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4023360" cy="73152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79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F07167"/>
                </a:solidFill>
                <a:latin typeface="Segoe UI"/>
              </a:defRPr>
            </a:pPr>
            <a:r>
              <a:t>01  |  Lead Prioritization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Vulnerability Value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800">
                <a:solidFill>
                  <a:srgbClr val="D5C3C6"/>
                </a:solidFill>
                <a:latin typeface="Segoe UI"/>
              </a:defRPr>
            </a:pPr>
            <a:r>
              <a:t>• Target critical risks (score 0-2).</a:t>
            </a:r>
            <a:br/>
            <a:r>
              <a:t>• Focus on high-review businesses.</a:t>
            </a:r>
            <a:br/>
            <a:r>
              <a:t>• High reputation = high leverage.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Sabotage Risks</a:t>
            </a:r>
          </a:p>
          <a:p>
            <a:pPr>
              <a:spcBef>
                <a:spcPts val="400"/>
              </a:spcBef>
              <a:defRPr sz="1800">
                <a:solidFill>
                  <a:srgbClr val="D5C3C6"/>
                </a:solidFill>
                <a:latin typeface="Segoe UI"/>
              </a:defRPr>
            </a:pPr>
            <a:r>
              <a:t>• Highlight unclaimed Maps listings.</a:t>
            </a:r>
            <a:br/>
            <a:r>
              <a:t>• Stress unauthorized edit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194560"/>
            <a:ext cx="402336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2194560"/>
            <a:ext cx="4023360" cy="73152"/>
          </a:xfrm>
          <a:prstGeom prst="rect">
            <a:avLst/>
          </a:prstGeom>
          <a:solidFill>
            <a:srgbClr val="E5A88B"/>
          </a:solidFill>
          <a:ln w="12700">
            <a:solidFill>
              <a:srgbClr val="E5A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468879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E5A88B"/>
                </a:solidFill>
                <a:latin typeface="Segoe UI"/>
              </a:defRPr>
            </a:pPr>
            <a:r>
              <a:t>02  |  Conversion Hooks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Active Visual Warning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800">
                <a:solidFill>
                  <a:srgbClr val="D5C3C6"/>
                </a:solidFill>
                <a:latin typeface="Segoe UI"/>
              </a:defRPr>
            </a:pPr>
            <a:r>
              <a:t>• Show 'Not Secure' browser flags.</a:t>
            </a:r>
            <a:br/>
            <a:r>
              <a:t>• Demo exposed login directories.</a:t>
            </a:r>
            <a:br/>
            <a:r>
              <a:t>• Highlight SSL expiry warnings.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Trust Builder Offer</a:t>
            </a:r>
          </a:p>
          <a:p>
            <a:pPr>
              <a:spcBef>
                <a:spcPts val="400"/>
              </a:spcBef>
              <a:defRPr sz="1800">
                <a:solidFill>
                  <a:srgbClr val="D5C3C6"/>
                </a:solidFill>
                <a:latin typeface="Segoe UI"/>
              </a:defRPr>
            </a:pPr>
            <a:r>
              <a:t>• Offer free Google Profile claim.</a:t>
            </a:r>
            <a:br/>
            <a:r>
              <a:t>• Charge low entry-fee for SSL setup.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2194560"/>
            <a:ext cx="4023360" cy="5120640"/>
          </a:xfrm>
          <a:prstGeom prst="roundRect">
            <a:avLst>
              <a:gd name="adj" fmla="val 4000"/>
            </a:avLst>
          </a:prstGeom>
          <a:solidFill>
            <a:srgbClr val="1B1829"/>
          </a:solidFill>
          <a:ln w="12700">
            <a:solidFill>
              <a:srgbClr val="31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0" y="2194560"/>
            <a:ext cx="4023360" cy="73152"/>
          </a:xfrm>
          <a:prstGeom prst="rect">
            <a:avLst/>
          </a:prstGeom>
          <a:solidFill>
            <a:srgbClr val="88D49E"/>
          </a:solidFill>
          <a:ln w="12700">
            <a:solidFill>
              <a:srgbClr val="88D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468879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88D49E"/>
                </a:solidFill>
                <a:latin typeface="Segoe UI"/>
              </a:defRPr>
            </a:pPr>
            <a:r>
              <a:t>03  |  Upsell Strategy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Compliance Focus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800">
                <a:solidFill>
                  <a:srgbClr val="D5C3C6"/>
                </a:solidFill>
                <a:latin typeface="Segoe UI"/>
              </a:defRPr>
            </a:pPr>
            <a:r>
              <a:t>• Pitch compliance audits to clinics.</a:t>
            </a:r>
            <a:br/>
            <a:r>
              <a:t>• Pitch secure bookings to hotels.</a:t>
            </a:r>
          </a:p>
          <a:p>
            <a:pPr>
              <a:defRPr sz="2000" b="1">
                <a:solidFill>
                  <a:srgbClr val="FAF6F0"/>
                </a:solidFill>
                <a:latin typeface="Segoe UI"/>
              </a:defRPr>
            </a:pPr>
            <a:r>
              <a:t>Retainer Packages</a:t>
            </a:r>
          </a:p>
          <a:p>
            <a:pPr>
              <a:spcBef>
                <a:spcPts val="400"/>
              </a:spcBef>
              <a:defRPr sz="1800">
                <a:solidFill>
                  <a:srgbClr val="D5C3C6"/>
                </a:solidFill>
                <a:latin typeface="Segoe UI"/>
              </a:defRPr>
            </a:pPr>
            <a:r>
              <a:t>• Bundle weekly scanner audits.</a:t>
            </a:r>
            <a:br/>
            <a:r>
              <a:t>• Offer monthly backups &amp;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